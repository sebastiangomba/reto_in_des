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9BCB6C-76A7-4A5D-82ED-3527F8D20EA8}">
  <a:tblStyle styleId="{779BCB6C-76A7-4A5D-82ED-3527F8D20EA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486275" y="1761380"/>
            <a:ext cx="32194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FACULTAD DE INGENIERÍA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238750" y="2170955"/>
            <a:ext cx="1714500" cy="76200"/>
          </a:xfrm>
          <a:prstGeom prst="rect">
            <a:avLst/>
          </a:prstGeom>
          <a:solidFill>
            <a:srgbClr val="F4C8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95325" y="2580530"/>
            <a:ext cx="1080135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PROCESO DE CERTIFICACIÓN PROFESORES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571625" y="4350097"/>
            <a:ext cx="9048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Propuesta de Automatización y Consolidación de Programación Académica de Pregrado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96500" y="285750"/>
            <a:ext cx="1714500" cy="48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859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857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CONTEXTO DEL RETO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95487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334125" y="3114675"/>
            <a:ext cx="5550693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05B"/>
                </a:solidFill>
                <a:latin typeface="Poppins"/>
                <a:ea typeface="Poppins"/>
                <a:cs typeface="Poppins"/>
                <a:sym typeface="Poppins"/>
              </a:rPr>
              <a:t>Optimización de la Gestión Administrativa de Docentes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34125" y="400050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Facultad requiere consolidar procesos para la mejora continua en la gestión de datos académicos y administrativos, optimizando la trazabilidad de la carga docente histórica.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0" y="285750"/>
            <a:ext cx="1714500" cy="48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1514475"/>
            <a:ext cx="50006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1514475"/>
            <a:ext cx="76200" cy="333375"/>
          </a:xfrm>
          <a:prstGeom prst="rect">
            <a:avLst/>
          </a:prstGeom>
          <a:solidFill>
            <a:srgbClr val="F4C8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2133600"/>
            <a:ext cx="52006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4C811"/>
                </a:solidFill>
                <a:latin typeface="Poppins"/>
                <a:ea typeface="Poppins"/>
                <a:cs typeface="Poppins"/>
                <a:sym typeface="Poppins"/>
              </a:rPr>
              <a:t>Sistema de Consulta Automatizado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31527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Desarrollar e implementar un sistema que consolide el 100% de la programación académica de pregrado para los periodos comprendidos entre 2016-2 y 2026-1.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200525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Permitirá la generación de reportes unificados detallando semestre, componente, docente, asignaturas, intensidad horaria y departamento con capacidad de escalabilidad futura.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0" y="285750"/>
            <a:ext cx="1714500" cy="48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43212"/>
            <a:ext cx="35242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843212"/>
            <a:ext cx="35242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843212"/>
            <a:ext cx="352425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2857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ESTRATEGIA SMART: DEFINICIÓN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57250" y="3186112"/>
            <a:ext cx="31003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05B"/>
                </a:solidFill>
                <a:latin typeface="Poppins"/>
                <a:ea typeface="Poppins"/>
                <a:cs typeface="Poppins"/>
                <a:sym typeface="Poppins"/>
              </a:rPr>
              <a:t>Específico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57250" y="3700462"/>
            <a:ext cx="2952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Extracción exacta de 7 campos clave: Profesor, Componente, Materia, Semestre, Horas, Departamento y Fechas.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619625" y="3186112"/>
            <a:ext cx="31003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05B"/>
                </a:solidFill>
                <a:latin typeface="Poppins"/>
                <a:ea typeface="Poppins"/>
                <a:cs typeface="Poppins"/>
                <a:sym typeface="Poppins"/>
              </a:rPr>
              <a:t>Medible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619625" y="3700462"/>
            <a:ext cx="2952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Éxito basado en rapidez, conclusión y coherencia frente al tiempo actual de extracción manual.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382000" y="3186112"/>
            <a:ext cx="31003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05B"/>
                </a:solidFill>
                <a:latin typeface="Poppins"/>
                <a:ea typeface="Poppins"/>
                <a:cs typeface="Poppins"/>
                <a:sym typeface="Poppins"/>
              </a:rPr>
              <a:t>Alcanzable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382000" y="3700462"/>
            <a:ext cx="2952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Técnicamente viable mediante el uso de herramientas como SQL, Python o Power BI.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0" y="285750"/>
            <a:ext cx="1714500" cy="48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86087"/>
            <a:ext cx="637222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81850" y="2986087"/>
            <a:ext cx="443865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71500" y="2857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ESTRATEGIA SMART: RELEVANCIA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57250" y="3328987"/>
            <a:ext cx="609076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05B"/>
                </a:solidFill>
                <a:latin typeface="Poppins"/>
                <a:ea typeface="Poppins"/>
                <a:cs typeface="Poppins"/>
                <a:sym typeface="Poppins"/>
              </a:rPr>
              <a:t>Relevante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57250" y="3843337"/>
            <a:ext cx="5800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Crucial para la gestión administrativa y auditoría de certificados laborales académicos de la Facultad de Ingeniería.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467600" y="3328987"/>
            <a:ext cx="406050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05B"/>
                </a:solidFill>
                <a:latin typeface="Poppins"/>
                <a:ea typeface="Poppins"/>
                <a:cs typeface="Poppins"/>
                <a:sym typeface="Poppins"/>
              </a:rPr>
              <a:t>Tiempo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467600" y="3843337"/>
            <a:ext cx="38671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Inicialmente abarca datos históricos 2016_2 a 2026_1, con diseño abierto para adición continua de semestres.</a:t>
            </a:r>
            <a:endParaRPr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0" y="285750"/>
            <a:ext cx="1714500" cy="48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/>
        </p:nvSpPr>
        <p:spPr>
          <a:xfrm>
            <a:off x="571500" y="2857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HORIZONTE DE INFORMACIÓN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71500" y="3009900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003A86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4533900"/>
            <a:ext cx="52863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4C811"/>
                </a:solidFill>
                <a:latin typeface="Lato"/>
                <a:ea typeface="Lato"/>
                <a:cs typeface="Lato"/>
                <a:sym typeface="Lato"/>
              </a:rPr>
              <a:t>AÑOS DE HISTORIAL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6334125" y="3014662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05B"/>
                </a:solidFill>
                <a:latin typeface="Poppins"/>
                <a:ea typeface="Poppins"/>
                <a:cs typeface="Poppins"/>
                <a:sym typeface="Poppins"/>
              </a:rPr>
              <a:t>Consolidación de Periodos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6334125" y="3529012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sistema debe gestionar una ventana temporal desde 2016-2 hasta 2026-1. Este volumen de datos garantiza una base sólida para procesos de auditoría y generación de certificados históricos sin necesidad de reprocesamiento manual cada periodo.</a:t>
            </a:r>
            <a:endParaRPr/>
          </a:p>
        </p:txBody>
      </p:sp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6500" y="285750"/>
            <a:ext cx="1714500" cy="48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28862"/>
            <a:ext cx="110490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81387"/>
            <a:ext cx="110490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33912"/>
            <a:ext cx="110490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571500" y="2857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LÓGICA DE INTENSIDAD HORARIA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762000" y="2576512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Multiplicador Semestral: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Cada registro de programación semanal se debe multiplicar por 16 semanas para obtener la intensidad real del semestre.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762000" y="3729037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Unificación de Grupos: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"N° Clase" define un grupo. Mismo profesor con múltiples grupos de la misma materia debe consolidarse en un solo registro con la suma total de horas.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762000" y="4881562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Normalización de Horarios: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Unificar conteos de horas independientemente de si los bloques están registrados en intervalos de 1 o 2 horas.</a:t>
            </a:r>
            <a:endParaRPr/>
          </a:p>
        </p:txBody>
      </p:sp>
      <p:pic>
        <p:nvPicPr>
          <p:cNvPr id="160" name="Google Shape;16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0" y="285750"/>
            <a:ext cx="1714500" cy="48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0" y="2609850"/>
            <a:ext cx="87630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0" y="3143250"/>
            <a:ext cx="87630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0" y="3676650"/>
            <a:ext cx="87630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0" y="4210050"/>
            <a:ext cx="87630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0" y="2609850"/>
            <a:ext cx="3505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57500" y="3143250"/>
            <a:ext cx="52578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57500" y="3676650"/>
            <a:ext cx="70104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57500" y="4210050"/>
            <a:ext cx="8763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571500" y="2857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PROYECCIÓN DE SESIONES POR SEMESTRE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50768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Proyección basada en el estándar institucional de 16 semanas por periodo académico.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71500" y="2700337"/>
            <a:ext cx="2095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205B"/>
                </a:solidFill>
                <a:latin typeface="Lato"/>
                <a:ea typeface="Lato"/>
                <a:cs typeface="Lato"/>
                <a:sym typeface="Lato"/>
              </a:rPr>
              <a:t>2 Horas / Semana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3233737"/>
            <a:ext cx="2095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205B"/>
                </a:solidFill>
                <a:latin typeface="Lato"/>
                <a:ea typeface="Lato"/>
                <a:cs typeface="Lato"/>
                <a:sym typeface="Lato"/>
              </a:rPr>
              <a:t>3 Horas / Semana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3767137"/>
            <a:ext cx="2095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205B"/>
                </a:solidFill>
                <a:latin typeface="Lato"/>
                <a:ea typeface="Lato"/>
                <a:cs typeface="Lato"/>
                <a:sym typeface="Lato"/>
              </a:rPr>
              <a:t>4 Horas / Semana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4300537"/>
            <a:ext cx="2095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205B"/>
                </a:solidFill>
                <a:latin typeface="Lato"/>
                <a:ea typeface="Lato"/>
                <a:cs typeface="Lato"/>
                <a:sym typeface="Lato"/>
              </a:rPr>
              <a:t>5 Horas / Semana</a:t>
            </a:r>
            <a:endParaRPr/>
          </a:p>
        </p:txBody>
      </p:sp>
      <p:pic>
        <p:nvPicPr>
          <p:cNvPr id="179" name="Google Shape;17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6500" y="285750"/>
            <a:ext cx="1714500" cy="48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859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571500" y="2857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CALIDAD DE DATOS Y DEPURACIÓN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571500" y="29384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Secciones Combinadas: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Uso de columna "ID Sección combinada" para identificar una sola materia en diferentes números de clase.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571500" y="37004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Unificación de Materias: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Profesores con múltiples grupos de la misma asignatura deben aparecer una sola vez.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44624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Mapeo de Departamento: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Utilizar la columna "Descripción de Materia" (Columna AC) como campo de referencia.</a:t>
            </a:r>
            <a:endParaRPr/>
          </a:p>
        </p:txBody>
      </p:sp>
      <p:pic>
        <p:nvPicPr>
          <p:cNvPr id="189" name="Google Shape;18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995487"/>
            <a:ext cx="5267325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0" y="285750"/>
            <a:ext cx="1714500" cy="48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/>
        </p:nvSpPr>
        <p:spPr>
          <a:xfrm>
            <a:off x="571500" y="2857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CAMPOS DEL REPORTE UNIFICADO</a:t>
            </a:r>
            <a:endParaRPr/>
          </a:p>
        </p:txBody>
      </p:sp>
      <p:graphicFrame>
        <p:nvGraphicFramePr>
          <p:cNvPr id="196" name="Google Shape;196;p22"/>
          <p:cNvGraphicFramePr/>
          <p:nvPr/>
        </p:nvGraphicFramePr>
        <p:xfrm>
          <a:off x="571500" y="2628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{779BCB6C-76A7-4A5D-82ED-3527F8D20EA8}</a:tableStyleId>
              </a:tblPr>
              <a:tblGrid>
                <a:gridCol w="322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2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Campo de Salida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A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Origen / Regla de Negocio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A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Importancia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Nombre del Docente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Base de Datos Histórica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Identificación única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Componente / Materia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Consolidado (Materia única)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Estructura curricular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Horas Semestre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Horas Semanales × 16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Intensidad certificable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Departamento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Columna AC (Descripción)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Asignación administrativa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7" name="Google Shape;197;p22"/>
          <p:cNvSpPr/>
          <p:nvPr/>
        </p:nvSpPr>
        <p:spPr>
          <a:xfrm>
            <a:off x="571500" y="3729037"/>
            <a:ext cx="32231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3794670" y="3729037"/>
            <a:ext cx="42533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8048029" y="3729037"/>
            <a:ext cx="35724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571500" y="4262437"/>
            <a:ext cx="32231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3794670" y="4262437"/>
            <a:ext cx="42533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8048029" y="4262437"/>
            <a:ext cx="35724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571500" y="4795837"/>
            <a:ext cx="32231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3794670" y="4795837"/>
            <a:ext cx="42533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8048029" y="4795837"/>
            <a:ext cx="35724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571500" y="5329237"/>
            <a:ext cx="32231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3794670" y="5329237"/>
            <a:ext cx="42533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8048029" y="5329237"/>
            <a:ext cx="35724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6500" y="285750"/>
            <a:ext cx="1714500" cy="48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19337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571500" y="2857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ESCALABILIDAD</a:t>
            </a:r>
            <a:endParaRPr/>
          </a:p>
        </p:txBody>
      </p:sp>
      <p:pic>
        <p:nvPicPr>
          <p:cNvPr id="216" name="Google Shape;21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28862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6334125" y="3157537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05B"/>
                </a:solidFill>
                <a:latin typeface="Poppins"/>
                <a:ea typeface="Poppins"/>
                <a:cs typeface="Poppins"/>
                <a:sym typeface="Poppins"/>
              </a:rPr>
              <a:t>Visión de Largo Plazo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6334125" y="3671887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arquitectura permite la integración automática de nuevos semestres (2026-2 en adelante), asegurando que la Facultad de Ingeniería cuente con un sistema de auditoría perpetuo y confiable.</a:t>
            </a:r>
            <a:endParaRPr/>
          </a:p>
        </p:txBody>
      </p:sp>
      <p:pic>
        <p:nvPicPr>
          <p:cNvPr id="219" name="Google Shape;21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0" y="285750"/>
            <a:ext cx="1714500" cy="48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8250" y="1852166"/>
            <a:ext cx="2095500" cy="59129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 txBox="1"/>
          <p:nvPr/>
        </p:nvSpPr>
        <p:spPr>
          <a:xfrm>
            <a:off x="3525678" y="2824460"/>
            <a:ext cx="514064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5619750" y="3948410"/>
            <a:ext cx="952500" cy="76200"/>
          </a:xfrm>
          <a:prstGeom prst="rect">
            <a:avLst/>
          </a:prstGeom>
          <a:solidFill>
            <a:srgbClr val="F4C8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4486275" y="4310360"/>
            <a:ext cx="32194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FACULTAD DE INGENIERÍA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4510087" y="4719935"/>
            <a:ext cx="3171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Proceso de Certificación de Profesores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35" name="Google Shape;235;p25"/>
          <p:cNvSpPr/>
          <p:nvPr/>
        </p:nvSpPr>
        <p:spPr>
          <a:xfrm>
            <a:off x="1143000" y="1490662"/>
            <a:ext cx="9906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1143000" y="2262187"/>
            <a:ext cx="9906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1143000" y="3205162"/>
            <a:ext cx="9906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1143000" y="3976687"/>
            <a:ext cx="9906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1143000" y="2252662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1143000" y="2252662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1143000" y="3195637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1143000" y="3195637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1143000" y="3967162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1143000" y="3967162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1143000" y="4910137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1143000" y="4910137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6335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2238375" y="1640681"/>
            <a:ext cx="8810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https://www.unisabana.edu.co/sites/default/files/2025-10/logo-unisabana1.svg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2238375" y="1874043"/>
            <a:ext cx="8810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www.unisabana.edu.co</a:t>
            </a:r>
            <a:endParaRPr/>
          </a:p>
        </p:txBody>
      </p:sp>
      <p:pic>
        <p:nvPicPr>
          <p:cNvPr id="250" name="Google Shape;25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2490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2238375" y="2405062"/>
            <a:ext cx="88106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https://www.eduopinions.com/wp-content/uploads/2017/06/xcsm_Banner_admisiones_2017_-_1_unisabana_07825542d0.jpg.pagespeed.ic_.4ICKaRSKhd-610x282.jpg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2238375" y="2824162"/>
            <a:ext cx="8810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www.eduopinions.com</a:t>
            </a:r>
            <a:endParaRPr/>
          </a:p>
        </p:txBody>
      </p:sp>
      <p:pic>
        <p:nvPicPr>
          <p:cNvPr id="253" name="Google Shape;25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33480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2238375" y="3355181"/>
            <a:ext cx="8810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https://images.stockcake.com/public/c/9/a/c9a7a5e8-a217-445c-bdf0-e740903f156c_large/modern-data-dashboard-stockcake.jpg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2238375" y="3588543"/>
            <a:ext cx="8810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pic>
        <p:nvPicPr>
          <p:cNvPr id="256" name="Google Shape;25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42052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2238375" y="4119562"/>
            <a:ext cx="88106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https://media.istockphoto.com/id/2175876298/vector/icons-representing-different-company-sizes-from-small-business-to-global.jpg?s=612x612&amp;w=0&amp;k=20&amp;c=cVrkd-maVccd_r_XoAtuBiZbhTO8C8orv3kh18-UGbQ=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2238375" y="4538662"/>
            <a:ext cx="8810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id="259" name="Google Shape;259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3000" y="5148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2238375" y="5062537"/>
            <a:ext cx="88106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https://static.vecteezy.com/system/resources/thumbnails/067/119/228/small/navigating-the-digital-frontier-a-comprehensive-guide-to-cloud-computing-solutions-today-vector.jpg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2238375" y="5481637"/>
            <a:ext cx="8810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A7E36DB662990458595EE9D6EE4EF5F" ma:contentTypeVersion="3" ma:contentTypeDescription="Crear nuevo documento." ma:contentTypeScope="" ma:versionID="d5853183a7023f325f50cc9513a4c1a7">
  <xsd:schema xmlns:xsd="http://www.w3.org/2001/XMLSchema" xmlns:xs="http://www.w3.org/2001/XMLSchema" xmlns:p="http://schemas.microsoft.com/office/2006/metadata/properties" xmlns:ns2="a4f9db5e-323d-48d4-86e6-af6fae47a500" targetNamespace="http://schemas.microsoft.com/office/2006/metadata/properties" ma:root="true" ma:fieldsID="da69b6d04141d0546d3628bf9ee4b60d" ns2:_="">
    <xsd:import namespace="a4f9db5e-323d-48d4-86e6-af6fae47a5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9db5e-323d-48d4-86e6-af6fae47a5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AF70225-D928-49AE-9449-E5C4D500D654}"/>
</file>

<file path=customXml/itemProps2.xml><?xml version="1.0" encoding="utf-8"?>
<ds:datastoreItem xmlns:ds="http://schemas.openxmlformats.org/officeDocument/2006/customXml" ds:itemID="{6030C5F2-6D3F-4C2A-ADCB-497210D34959}"/>
</file>

<file path=customXml/itemProps3.xml><?xml version="1.0" encoding="utf-8"?>
<ds:datastoreItem xmlns:ds="http://schemas.openxmlformats.org/officeDocument/2006/customXml" ds:itemID="{86E4225E-314B-4314-A6D0-8C618CFA8B5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</Words>
  <Application>Microsoft Office PowerPoint</Application>
  <PresentationFormat>Panorámica</PresentationFormat>
  <Paragraphs>74</Paragraphs>
  <Slides>13</Slides>
  <Notes>13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Lato</vt:lpstr>
      <vt:lpstr>Calibri</vt:lpstr>
      <vt:lpstr>Poppins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Diana Carolina Ramos Castro</dc:creator>
  <cp:lastModifiedBy>Diana Carolina Ramos Castro</cp:lastModifiedBy>
  <cp:revision>1</cp:revision>
  <dcterms:modified xsi:type="dcterms:W3CDTF">2026-04-29T21:32:56Z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0x010100BA7E36DB662990458595EE9D6EE4EF5F</vt:lpwstr>
  </property>
</Properties>
</file>